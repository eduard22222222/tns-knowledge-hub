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_b2029d79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fortmap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640080"/>
            <a:ext cx="2695364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60720" y="2286000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251460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200" b="1">
                <a:solidFill>
                  <a:srgbClr val="FFFFFF"/>
                </a:solidFill>
                <a:latin typeface="Oswald"/>
              </a:rPr>
              <a:t>COMFORTMAP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79476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56BCDD"/>
                </a:solidFill>
                <a:latin typeface="Oswald"/>
              </a:rPr>
              <a:t>The trust layer for elderly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52628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Live transparency between care homes and the families who love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5669280"/>
            <a:ext cx="5760720" cy="16459"/>
          </a:xfrm>
          <a:prstGeom prst="rect">
            <a:avLst/>
          </a:prstGeom>
          <a:solidFill>
            <a:srgbClr val="33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00">
                <a:solidFill>
                  <a:srgbClr val="869CA8"/>
                </a:solidFill>
                <a:latin typeface="Segoe UI Semibold"/>
              </a:rPr>
              <a:t>SEED INVESTMENT DECK   · 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62362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8294"/>
                </a:solidFill>
                <a:latin typeface="Segoe UI Semibold"/>
              </a:rPr>
              <a:t>comfortmap.ro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_acff5a71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E2A3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fortmap-pin-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566928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1A8294"/>
                </a:solidFill>
                <a:latin typeface="Oswald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99616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8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8308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A BLIND,</a:t>
            </a:r>
          </a:p>
          <a:p>
            <a:pPr algn="l">
              <a:lnSpc>
                <a:spcPct val="92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HIGH-STAKES</a:t>
            </a:r>
          </a:p>
          <a:p>
            <a:pPr algn="l">
              <a:lnSpc>
                <a:spcPct val="92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3525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425196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Families hand over the people they love most — with no window into daily care.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0657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4965192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Staff lose hours every week to repetitive calls from anxious relatives.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57790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8" y="5678424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No transparency means no trust — and good homes silently lose occupancy.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81728"/>
            <a:ext cx="3977639" cy="1591056"/>
          </a:xfrm>
          <a:prstGeom prst="roundRect">
            <a:avLst>
              <a:gd name="adj" fmla="val 9000"/>
            </a:avLst>
          </a:prstGeom>
          <a:solidFill>
            <a:srgbClr val="0920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63C295"/>
                </a:solidFill>
                <a:latin typeface="Oswald"/>
              </a:rPr>
              <a:t>4.6M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50992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E7EEF2"/>
                </a:solidFill>
                <a:latin typeface="Segoe UI"/>
              </a:rPr>
              <a:t>Romanians live abroad — families who cannot simply visit.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_070de8c4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3749039"/>
          </a:xfrm>
          <a:prstGeom prst="rect">
            <a:avLst/>
          </a:prstGeom>
          <a:solidFill>
            <a:srgbClr val="0E2A3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fortmap-pin-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WHY THIS,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Oswald"/>
              </a:rPr>
              <a:t>THE TIMING IS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2670048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3749039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Aging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21214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Residential elderly-care demand is rising fast across Europe.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429000"/>
            <a:ext cx="2670048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0168" y="3749039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950208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A diaspora that pays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00600"/>
            <a:ext cx="21214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Millions abroad will pay for daily peace of mind.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2670048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4808" y="3749039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50208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Regulation rewards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00600"/>
            <a:ext cx="21214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Inspections (DSP / ANPIS) favour documented, transparent homes.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429000"/>
            <a:ext cx="2670048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99448" y="3749039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950208"/>
            <a:ext cx="2121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A digital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800600"/>
            <a:ext cx="21214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The sector still runs on phone calls and WhatsApp.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63C295"/>
                </a:solidFill>
                <a:latin typeface="Oswald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399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74980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200" b="1">
                <a:solidFill>
                  <a:srgbClr val="FFFFFF"/>
                </a:solidFill>
                <a:latin typeface="Oswald"/>
              </a:rPr>
              <a:t>TRANSPARENCY,</a:t>
            </a:r>
          </a:p>
          <a:p>
            <a:pPr algn="l">
              <a:lnSpc>
                <a:spcPct val="92000"/>
              </a:lnSpc>
            </a:pPr>
            <a:r>
              <a:rPr sz="5200" b="1">
                <a:solidFill>
                  <a:srgbClr val="FFFFFF"/>
                </a:solidFill>
                <a:latin typeface="Oswald"/>
              </a:rPr>
              <a:t>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7EEF2"/>
                </a:solidFill>
                <a:latin typeface="Segoe UI"/>
              </a:rPr>
              <a:t>Staff log a 2-minute daily journal. Families see updates, photos and a weekly report — instantly. Peace of mind stops depending on a phone 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93792"/>
            <a:ext cx="2240280" cy="1024128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3035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63C295"/>
                </a:solidFill>
                <a:latin typeface="Oswald"/>
              </a:rPr>
              <a:t>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8521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7EEF2"/>
                </a:solidFill>
                <a:latin typeface="Segoe UI"/>
              </a:rPr>
              <a:t>daily staff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5193792"/>
            <a:ext cx="2240280" cy="1024128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53035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63C295"/>
                </a:solidFill>
                <a:latin typeface="Oswald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58521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7EEF2"/>
                </a:solidFill>
                <a:latin typeface="Segoe UI"/>
              </a:rPr>
              <a:t>family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0096" y="5193792"/>
            <a:ext cx="2240280" cy="1024128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53035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63C295"/>
                </a:solidFill>
                <a:latin typeface="Oswald"/>
              </a:rPr>
              <a:t>Certified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8521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7EEF2"/>
                </a:solidFill>
                <a:latin typeface="Segoe UI"/>
              </a:rPr>
              <a:t>ComfortMap trust badge</a:t>
            </a:r>
          </a:p>
        </p:txBody>
      </p:sp>
      <p:pic>
        <p:nvPicPr>
          <p:cNvPr id="19" name="Picture 18" descr="p_04b25bbc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818120" y="0"/>
            <a:ext cx="54864" cy="6858000"/>
          </a:xfrm>
          <a:prstGeom prst="rect">
            <a:avLst/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1A8294"/>
                </a:solidFill>
                <a:latin typeface="Oswald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1307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1A8294"/>
                </a:solidFill>
                <a:latin typeface="Segoe UI Semibold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3212C"/>
                </a:solidFill>
                <a:latin typeface="Oswald"/>
              </a:rPr>
              <a:t>WHAT THE APP DOES</a:t>
            </a:r>
          </a:p>
        </p:txBody>
      </p:sp>
      <p:pic>
        <p:nvPicPr>
          <p:cNvPr id="7" name="Picture 6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743200"/>
            <a:ext cx="267004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_1cc6bc65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" y="2743200"/>
            <a:ext cx="2670048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43434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3212C"/>
                </a:solidFill>
                <a:latin typeface="Oswald"/>
              </a:rPr>
              <a:t>Daily journal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82803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9834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606E"/>
                </a:solidFill>
                <a:latin typeface="Segoe UI"/>
              </a:rPr>
              <a:t>Staff document care in 2 minutes — meals, mood, activity, 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743200"/>
            <a:ext cx="267004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_23f3a8dff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82" y="2743200"/>
            <a:ext cx="2670048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39312" y="43434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3212C"/>
                </a:solidFill>
                <a:latin typeface="Oswald"/>
              </a:rPr>
              <a:t>Daily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82803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49834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606E"/>
                </a:solidFill>
                <a:latin typeface="Segoe UI"/>
              </a:rPr>
              <a:t>One photo a day is worth more than ten phone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743200"/>
            <a:ext cx="267004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_648604d5a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410" y="2743200"/>
            <a:ext cx="2670048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92240" y="43434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3212C"/>
                </a:solidFill>
                <a:latin typeface="Oswald"/>
              </a:rPr>
              <a:t>Direct messaging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482803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606E"/>
                </a:solidFill>
                <a:latin typeface="Segoe UI"/>
              </a:rPr>
              <a:t>Private, GDPR-safe chat between the home and the family.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2743200"/>
            <a:ext cx="267004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_d3962f121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8338" y="2743200"/>
            <a:ext cx="2670048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45167" y="43434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3212C"/>
                </a:solidFill>
                <a:latin typeface="Oswald"/>
              </a:rPr>
              <a:t>Weekly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5" y="482803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7" y="498348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606E"/>
                </a:solidFill>
                <a:latin typeface="Segoe UI"/>
              </a:rPr>
              <a:t>An automated wellbeing summary every Monday at 7:00.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9FB2BC"/>
                </a:solidFill>
                <a:latin typeface="Segoe UI Semibold"/>
              </a:rPr>
              <a:t>COMFORTMAP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BC"/>
                </a:solidFill>
                <a:latin typeface="Oswa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1234440"/>
            <a:ext cx="4434840" cy="4434840"/>
          </a:xfrm>
          <a:prstGeom prst="ellipse">
            <a:avLst/>
          </a:prstGeom>
          <a:solidFill>
            <a:srgbClr val="1A8294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dge_gold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749039" cy="3958840"/>
          </a:xfrm>
          <a:prstGeom prst="rect">
            <a:avLst/>
          </a:prstGeom>
        </p:spPr>
      </p:pic>
      <p:pic>
        <p:nvPicPr>
          <p:cNvPr id="5" name="Picture 4" descr="comfortmap-pin-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864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1A8294"/>
                </a:solidFill>
                <a:latin typeface="Oswald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399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TWO-SIDED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7315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400" b="1">
                <a:solidFill>
                  <a:srgbClr val="FFFFFF"/>
                </a:solidFill>
                <a:latin typeface="Oswald"/>
              </a:rPr>
              <a:t>EARN THE BADGE.</a:t>
            </a:r>
          </a:p>
          <a:p>
            <a:pPr algn="l">
              <a:lnSpc>
                <a:spcPct val="92000"/>
              </a:lnSpc>
            </a:pPr>
            <a:r>
              <a:rPr sz="4400" b="1">
                <a:solidFill>
                  <a:srgbClr val="FFFFFF"/>
                </a:solidFill>
                <a:latin typeface="Oswald"/>
              </a:rPr>
              <a:t>WIN THE FAMILY.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18872" cy="457200"/>
          </a:xfrm>
          <a:prstGeom prst="roundRect">
            <a:avLst>
              <a:gd name="adj" fmla="val 4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swald"/>
              </a:rPr>
              <a:t>Public ComfortMap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Every member home gets a public page — discoverable when families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09159"/>
            <a:ext cx="118872" cy="457200"/>
          </a:xfrm>
          <a:prstGeom prst="roundRect">
            <a:avLst>
              <a:gd name="adj" fmla="val 4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swald"/>
              </a:rPr>
              <a:t>ComfortMap Certified badge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A visible trust mark, on the door and online, that competitors must earn.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8872" cy="457200"/>
          </a:xfrm>
          <a:prstGeom prst="roundRect">
            <a:avLst>
              <a:gd name="adj" fmla="val 4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swald"/>
              </a:rPr>
              <a:t>Directory placements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17220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Families discover, compare and choose — homes fill beds through the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59168" y="694944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6096" y="612647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DE-RISKED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4304" y="987552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3800" b="1">
                <a:solidFill>
                  <a:srgbClr val="FFFFFF"/>
                </a:solidFill>
                <a:latin typeface="Oswald"/>
              </a:rPr>
              <a:t>ALREADY BUILT.</a:t>
            </a:r>
          </a:p>
          <a:p>
            <a:pPr algn="l">
              <a:lnSpc>
                <a:spcPct val="92000"/>
              </a:lnSpc>
            </a:pPr>
            <a:r>
              <a:rPr sz="3800" b="1">
                <a:solidFill>
                  <a:srgbClr val="FFFFFF"/>
                </a:solidFill>
                <a:latin typeface="Oswald"/>
              </a:rPr>
              <a:t>ALREADY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9168" y="269748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Everything here is the real product — in production today at comfortmap.ro.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3840480"/>
            <a:ext cx="4800600" cy="804672"/>
          </a:xfrm>
          <a:prstGeom prst="roundRect">
            <a:avLst>
              <a:gd name="adj" fmla="val 11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0336" y="395935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3C295"/>
                </a:solidFill>
                <a:latin typeface="Oswald"/>
              </a:rPr>
              <a:t>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43251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7EEF2"/>
                </a:solidFill>
                <a:latin typeface="Segoe UI"/>
              </a:rPr>
              <a:t>Families and homes using it live, every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4754880"/>
            <a:ext cx="4800600" cy="804672"/>
          </a:xfrm>
          <a:prstGeom prst="roundRect">
            <a:avLst>
              <a:gd name="adj" fmla="val 11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487375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3C295"/>
                </a:solidFill>
                <a:latin typeface="Oswald"/>
              </a:rPr>
              <a:t>Security-hardened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52395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7EEF2"/>
                </a:solidFill>
                <a:latin typeface="Segoe UI"/>
              </a:rPr>
              <a:t>Independently audited · GDPR-remediated.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8" y="5669280"/>
            <a:ext cx="4800600" cy="804672"/>
          </a:xfrm>
          <a:prstGeom prst="roundRect">
            <a:avLst>
              <a:gd name="adj" fmla="val 11000"/>
            </a:avLst>
          </a:prstGeom>
          <a:solidFill>
            <a:srgbClr val="09202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578815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3C295"/>
                </a:solidFill>
                <a:latin typeface="Oswald"/>
              </a:rPr>
              <a:t>EU-hosted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615391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7EEF2"/>
                </a:solidFill>
                <a:latin typeface="Segoe UI"/>
              </a:rPr>
              <a:t>Data in Frankfurt · reports generated server-side.</a:t>
            </a:r>
          </a:p>
        </p:txBody>
      </p:sp>
      <p:pic>
        <p:nvPicPr>
          <p:cNvPr id="17" name="Picture 16" descr="mock_web_camin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5623560" cy="3962053"/>
          </a:xfrm>
          <a:prstGeom prst="rect">
            <a:avLst/>
          </a:prstGeom>
        </p:spPr>
      </p:pic>
      <p:pic>
        <p:nvPicPr>
          <p:cNvPr id="18" name="Picture 17" descr="mock_phone_por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28800"/>
            <a:ext cx="2377440" cy="42496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1996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69CA8"/>
                </a:solidFill>
                <a:latin typeface="Segoe UI Semibold"/>
              </a:rPr>
              <a:t>Staff dashboard + family app — the real ComfortMap.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1A8294"/>
                </a:solidFill>
                <a:latin typeface="Oswald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399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DEFENSIBILITY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85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Oswald"/>
              </a:rPr>
              <a:t>COMFORTSCORE —</a:t>
            </a:r>
          </a:p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Oswald"/>
              </a:rPr>
              <a:t>THE DATA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E7EEF2"/>
                </a:solidFill>
                <a:latin typeface="Segoe UI"/>
              </a:rPr>
              <a:t>A proprietary AI score of comfort and care quality, built from structured daily behavioural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6BCDD"/>
                </a:solidFill>
                <a:latin typeface="Segoe UI"/>
              </a:rPr>
              <a:t>The more homes and residents use ComfortMap, the more precise the score — and the harder it is to replicate.</a:t>
            </a:r>
          </a:p>
        </p:txBody>
      </p:sp>
      <p:pic>
        <p:nvPicPr>
          <p:cNvPr id="10" name="Picture 9" descr="card_06_comfortscore_mo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5760720" cy="3095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_d1ef376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fortmap-pin-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8869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8046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WHERE THIS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Oswald"/>
              </a:rPr>
              <a:t>THE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56BCDD"/>
                </a:solidFill>
                <a:latin typeface="Oswald"/>
              </a:rPr>
              <a:t>A predictive wellbeing model of each resident's daily life.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3529584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35661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swald"/>
              </a:rPr>
              <a:t>Predict, don't 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Early signals for health and quality-of-care, surfaced before they become incidents.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3" y="3246120"/>
            <a:ext cx="3529584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35661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3" y="3767328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swald"/>
              </a:rPr>
              <a:t>From app to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3" y="4617720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ComfortMap becomes the data layer the entire sector runs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3246120"/>
            <a:ext cx="3529584" cy="2651760"/>
          </a:xfrm>
          <a:prstGeom prst="roundRect">
            <a:avLst>
              <a:gd name="adj" fmla="val 7000"/>
            </a:avLst>
          </a:prstGeom>
          <a:solidFill>
            <a:srgbClr val="0920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0456" y="35661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3767328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Oswald"/>
              </a:rPr>
              <a:t>Durable enterprise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4617720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The asset that underwrites a premium, defensible 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1A8294"/>
                </a:solidFill>
                <a:latin typeface="Segoe UI Semibold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3212C"/>
                </a:solidFill>
                <a:latin typeface="Oswald"/>
              </a:rPr>
              <a:t>A MASSIVE, GROWING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67004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70048" cy="146304"/>
          </a:xfrm>
          <a:prstGeom prst="rect">
            <a:avLst/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43200"/>
            <a:ext cx="2212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13212C"/>
                </a:solidFill>
                <a:latin typeface="Oswald"/>
              </a:rPr>
              <a:t>€1.05T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023360"/>
            <a:ext cx="22128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606E"/>
                </a:solidFill>
                <a:latin typeface="Segoe UI"/>
              </a:rPr>
              <a:t>Global elderly-care services market,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286000"/>
            <a:ext cx="267004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286000"/>
            <a:ext cx="2670048" cy="146304"/>
          </a:xfrm>
          <a:prstGeom prst="rect">
            <a:avLst/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743200"/>
            <a:ext cx="2212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13212C"/>
                </a:solidFill>
                <a:latin typeface="Oswald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023360"/>
            <a:ext cx="22128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606E"/>
                </a:solidFill>
                <a:latin typeface="Segoe UI"/>
              </a:rPr>
              <a:t>Annual growth (CAGR) toward €1.74T by 2034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286000"/>
            <a:ext cx="267004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286000"/>
            <a:ext cx="2670048" cy="146304"/>
          </a:xfrm>
          <a:prstGeom prst="rect">
            <a:avLst/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2212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13212C"/>
                </a:solidFill>
                <a:latin typeface="Oswald"/>
              </a:rPr>
              <a:t>€325B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22128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606E"/>
                </a:solidFill>
                <a:latin typeface="Segoe UI"/>
              </a:rPr>
              <a:t>European serviceable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2286000"/>
            <a:ext cx="267004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2286000"/>
            <a:ext cx="2670048" cy="146304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2743200"/>
            <a:ext cx="22128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13212C"/>
                </a:solidFill>
                <a:latin typeface="Oswald"/>
              </a:rPr>
              <a:t>600–800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4023360"/>
            <a:ext cx="22128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606E"/>
                </a:solidFill>
                <a:latin typeface="Segoe UI"/>
              </a:rPr>
              <a:t>Private care homes in Romania today — thousands across CEE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8294"/>
                </a:solidFill>
                <a:latin typeface="Oswald"/>
              </a:rPr>
              <a:t>Land in Romania → expand across CEE → Europe. One transparent home at a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9FB2BC"/>
                </a:solidFill>
                <a:latin typeface="Segoe UI Semibold"/>
              </a:rPr>
              <a:t>COMFORTMAP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BC"/>
                </a:solidFill>
                <a:latin typeface="Oswa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1A8294"/>
                </a:solidFill>
                <a:latin typeface="Oswald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3560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3533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HOW WE MAKE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Oswald"/>
              </a:rPr>
              <a:t>THREE REVENUE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09202E">
              <a:alpha val="85000"/>
            </a:srgbClr>
          </a:solidFill>
          <a:ln w="12700">
            <a:solidFill>
              <a:srgbClr val="22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63C295"/>
                </a:solidFill>
                <a:latin typeface="Oswald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01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3C295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63C295"/>
                </a:solidFill>
                <a:latin typeface="Segoe UI Semibold"/>
              </a:rPr>
              <a:t>RECURRING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Membership 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Managed service per home, billed monthly by resident tier.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86400"/>
            <a:ext cx="3063240" cy="10972"/>
          </a:xfrm>
          <a:prstGeom prst="rect">
            <a:avLst/>
          </a:prstGeom>
          <a:solidFill>
            <a:srgbClr val="2C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3C295"/>
                </a:solidFill>
                <a:latin typeface="Segoe UI Semibold"/>
              </a:rPr>
              <a:t>€150 / €250 / €350 / €450 per month  +  €250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33172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09202E">
              <a:alpha val="85000"/>
            </a:srgbClr>
          </a:solidFill>
          <a:ln w="12700">
            <a:solidFill>
              <a:srgbClr val="22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56BCDD"/>
                </a:solidFill>
                <a:latin typeface="Oswald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3101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6BCD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346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56BCDD"/>
                </a:solidFill>
                <a:latin typeface="Segoe UI Semibold"/>
              </a:rPr>
              <a:t>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ComfortMap 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720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Booking-style placement fees plus premium listings.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5486400"/>
            <a:ext cx="3063240" cy="10972"/>
          </a:xfrm>
          <a:prstGeom prst="rect">
            <a:avLst/>
          </a:prstGeom>
          <a:solidFill>
            <a:srgbClr val="2C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5778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6BCDD"/>
                </a:solidFill>
                <a:latin typeface="Segoe UI Semibold"/>
              </a:rPr>
              <a:t>~€300 per placement  ·  ~9 placements / home /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33172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09202E">
              <a:alpha val="85000"/>
            </a:srgbClr>
          </a:solidFill>
          <a:ln w="12700">
            <a:solidFill>
              <a:srgbClr val="22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5146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2B259"/>
                </a:solidFill>
                <a:latin typeface="Oswald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3101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2B25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346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E2B259"/>
                </a:solidFill>
                <a:latin typeface="Segoe UI Semibold"/>
              </a:rP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Oswald"/>
              </a:rPr>
              <a:t>Data &amp;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5720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EF2"/>
                </a:solidFill>
                <a:latin typeface="Segoe UI"/>
              </a:rPr>
              <a:t>ComfortScore benchmarking and sector intelligence.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5486400"/>
            <a:ext cx="3063240" cy="10972"/>
          </a:xfrm>
          <a:prstGeom prst="rect">
            <a:avLst/>
          </a:prstGeom>
          <a:solidFill>
            <a:srgbClr val="2C5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5778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E2B259"/>
                </a:solidFill>
                <a:latin typeface="Segoe UI Semibold"/>
              </a:rPr>
              <a:t>High-margin, future upside on a unique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76656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59435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DIRECTORY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Oswald"/>
              </a:rPr>
              <a:t>REVENUE FROM OCCUPANCY,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Oswald"/>
              </a:rPr>
              <a:t>NOT GUESSWORK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889504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You can only be listed if you are a paying member — listed homes = members.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216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639312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Placements are modelled on real bed turnover, not optimistic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714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891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A marketplace layer that compounds on top of recurring SaaS.</a:t>
            </a:r>
          </a:p>
        </p:txBody>
      </p:sp>
      <p:pic>
        <p:nvPicPr>
          <p:cNvPr id="13" name="Picture 12" descr="card_08_occupancy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5852160" cy="31531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76656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59435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BUILT BOTTOM-UP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Oswald"/>
              </a:rPr>
              <a:t>FROM 10 HOMES TO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Oswald"/>
              </a:rPr>
              <a:t>€466K ARR — 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We start from ~10 pilot homes and grow month by month with a conservative 10% annual churn.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56BCDD"/>
                </a:solidFill>
                <a:latin typeface="Segoe UI"/>
              </a:rPr>
              <a:t>We separate exit ARR (run-rate) from recognised revenue (cash on the ramp) — investor-honest.</a:t>
            </a:r>
          </a:p>
        </p:txBody>
      </p:sp>
      <p:pic>
        <p:nvPicPr>
          <p:cNvPr id="9" name="Picture 8" descr="card_01_mrr_buil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08760"/>
            <a:ext cx="5852160" cy="3140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5097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swald"/>
              </a:rPr>
              <a:t>THREE-YEAR PROJECTION</a:t>
            </a:r>
          </a:p>
        </p:txBody>
      </p:sp>
      <p:pic>
        <p:nvPicPr>
          <p:cNvPr id="7" name="Picture 6" descr="card_02_arr_stre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5943600" cy="3473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4884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63C295"/>
                </a:solidFill>
                <a:latin typeface="Oswald"/>
              </a:rPr>
              <a:t>€550K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862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7EEF2"/>
                </a:solidFill>
                <a:latin typeface="Segoe UI"/>
              </a:rPr>
              <a:t>Year 1 total run-rate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2044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56BCDD"/>
                </a:solidFill>
                <a:latin typeface="Oswald"/>
              </a:rPr>
              <a:t>€1.93M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233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7EEF2"/>
                </a:solidFill>
                <a:latin typeface="Segoe UI"/>
              </a:rPr>
              <a:t>Year 2 total run-rate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9204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€5.13M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605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7EEF2"/>
                </a:solidFill>
                <a:latin typeface="Segoe UI"/>
              </a:rPr>
              <a:t>Year 3 total run-rate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6263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69CA8"/>
                </a:solidFill>
                <a:latin typeface="Segoe UI Semibold"/>
              </a:rPr>
              <a:t>Member homes (= listed): 140 → 400 → 850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swald"/>
              </a:rPr>
              <a:t>UNIT ECONOMICS THAT COMPOUND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192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402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414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€1,200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3192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Blended CAC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24028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414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8.7×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3192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LTV : CAC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5.6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239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CAC payback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605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36168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&gt;150%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5239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Net revenue retention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1605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36168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63C295"/>
                </a:solidFill>
                <a:latin typeface="Oswald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52395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EEF2"/>
                </a:solidFill>
                <a:latin typeface="Segoe UI"/>
              </a:rPr>
              <a:t>Conservative churn / 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5097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swald"/>
              </a:rPr>
              <a:t>VALUATION BUILD-UP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9600" b="1">
                <a:solidFill>
                  <a:srgbClr val="63C295"/>
                </a:solidFill>
                <a:latin typeface="Oswald"/>
              </a:rPr>
              <a:t>€21.6M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Oswald"/>
              </a:rPr>
              <a:t>Year-3 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7EEF2"/>
                </a:solidFill>
                <a:latin typeface="Segoe UI"/>
              </a:rPr>
              <a:t>Blended and conservative: recurring ARR valued at 6× plus marketplace revenue at 2× — below the ~6× SaaS median.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56BCDD"/>
                </a:solidFill>
                <a:latin typeface="Segoe UI Semibold"/>
              </a:rPr>
              <a:t>€2.96M → €9.18M → €21.6M  across Years 1–3</a:t>
            </a:r>
          </a:p>
        </p:txBody>
      </p:sp>
      <p:pic>
        <p:nvPicPr>
          <p:cNvPr id="11" name="Picture 10" descr="card_04_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669280" cy="31576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_b3896eff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0"/>
            <a:ext cx="387065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0"/>
            <a:ext cx="54864" cy="6858000"/>
          </a:xfrm>
          <a:prstGeom prst="rect">
            <a:avLst/>
          </a:prstGeom>
          <a:solidFill>
            <a:srgbClr val="63C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fortmap-pin-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676656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59435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E7EEF2"/>
                </a:solidFill>
                <a:latin typeface="Oswald"/>
              </a:rPr>
              <a:t>WE'RE RAISING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1800" b="1">
                <a:solidFill>
                  <a:srgbClr val="FFFFFF"/>
                </a:solidFill>
                <a:latin typeface="Oswald"/>
              </a:rPr>
              <a:t>€200K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6BCDD"/>
                </a:solidFill>
                <a:latin typeface="Oswald"/>
              </a:rPr>
              <a:t>to scale the proven product across Romania and CEE.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7360920" cy="621792"/>
          </a:xfrm>
          <a:prstGeom prst="roundRect">
            <a:avLst>
              <a:gd name="adj" fmla="val 16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66344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swald"/>
              </a:rPr>
              <a:t>18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68172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7EEF2"/>
                </a:solidFill>
                <a:latin typeface="Segoe UI"/>
              </a:rPr>
              <a:t>of runway to Year-2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7360920" cy="621792"/>
          </a:xfrm>
          <a:prstGeom prst="roundRect">
            <a:avLst>
              <a:gd name="adj" fmla="val 16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39496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swald"/>
              </a:rPr>
              <a:t>Use of funds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41324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7EEF2"/>
                </a:solidFill>
                <a:latin typeface="Segoe UI"/>
              </a:rPr>
              <a:t>Sales &amp; distribution · CEE expansion · ComfortScore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89320"/>
            <a:ext cx="7360920" cy="621792"/>
          </a:xfrm>
          <a:prstGeom prst="roundRect">
            <a:avLst>
              <a:gd name="adj" fmla="val 16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612648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swald"/>
              </a:rPr>
              <a:t>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614476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7EEF2"/>
                </a:solidFill>
                <a:latin typeface="Segoe UI"/>
              </a:rPr>
              <a:t>400 homes · €1.33M ARR · first CEE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fortmap-pin-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384048"/>
            <a:ext cx="400785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658368"/>
            <a:ext cx="420624" cy="109728"/>
          </a:xfrm>
          <a:prstGeom prst="roundRect">
            <a:avLst>
              <a:gd name="adj" fmla="val 50000"/>
            </a:avLst>
          </a:prstGeom>
          <a:solidFill>
            <a:srgbClr val="56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5760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250">
                <a:solidFill>
                  <a:srgbClr val="56BCDD"/>
                </a:solidFill>
                <a:latin typeface="Segoe UI Semibold"/>
              </a:rPr>
              <a:t>WHAT YOU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5097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swald"/>
              </a:rPr>
              <a:t>INVESTOR RETURNS</a:t>
            </a:r>
          </a:p>
        </p:txBody>
      </p:sp>
      <p:pic>
        <p:nvPicPr>
          <p:cNvPr id="7" name="Picture 6" descr="card_05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6035040" cy="35160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21488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869CA8"/>
                </a:solidFill>
                <a:latin typeface="Oswald"/>
              </a:rPr>
              <a:t>2.5×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82549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Bear — Romania only. Even the downside returns capital.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5204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63C295"/>
                </a:solidFill>
                <a:latin typeface="Oswald"/>
              </a:rPr>
              <a:t>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19709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Base — Romania + CEE.  ~75% IRR over ~4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892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56BCDD"/>
                </a:solidFill>
                <a:latin typeface="Oswald"/>
              </a:rPr>
              <a:t>19×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56869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E7EEF2"/>
                </a:solidFill>
                <a:latin typeface="Segoe UI"/>
              </a:rPr>
              <a:t>Bull — European expansion.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200">
                <a:solidFill>
                  <a:srgbClr val="869CA8"/>
                </a:solidFill>
                <a:latin typeface="Segoe UI Semibold"/>
              </a:rPr>
              <a:t>COMFORTMAP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69CA8"/>
                </a:solidFill>
                <a:latin typeface="Oswa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_bac909f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fortmap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94360"/>
            <a:ext cx="2695364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4688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LET'S BUILD THE STANDARD</a:t>
            </a:r>
          </a:p>
          <a:p>
            <a:pPr algn="l">
              <a:lnSpc>
                <a:spcPct val="96000"/>
              </a:lnSpc>
            </a:pPr>
            <a:r>
              <a:rPr sz="4600" b="1">
                <a:solidFill>
                  <a:srgbClr val="FFFFFF"/>
                </a:solidFill>
                <a:latin typeface="Oswald"/>
              </a:rPr>
              <a:t>FOR TRUST IN ELDERLY 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343400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A8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6BCDD"/>
                </a:solidFill>
                <a:latin typeface="Oswald"/>
              </a:rPr>
              <a:t>Romania today  ·  CEE next  ·  Europe in 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7EEF2"/>
                </a:solidFill>
                <a:latin typeface="Segoe UI Semibold"/>
              </a:rPr>
              <a:t>comfortmap.ro      ·      hello@comfortmap.ro      ·      București, România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